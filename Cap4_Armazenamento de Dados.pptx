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70" r:id="rId3"/>
    <p:sldId id="257" r:id="rId4"/>
    <p:sldId id="265" r:id="rId5"/>
    <p:sldId id="258" r:id="rId6"/>
    <p:sldId id="259" r:id="rId7"/>
    <p:sldId id="260" r:id="rId8"/>
    <p:sldId id="261" r:id="rId9"/>
    <p:sldId id="262" r:id="rId10"/>
    <p:sldId id="268" r:id="rId11"/>
    <p:sldId id="267" r:id="rId12"/>
    <p:sldId id="266" r:id="rId13"/>
    <p:sldId id="263" r:id="rId14"/>
    <p:sldId id="264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82" autoAdjust="0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84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06704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51997-0D2C-1DBC-A94B-E09ECBE3A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96FA76-B20E-9FBB-6804-1CA9E273AA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8501CD-5B37-A3F1-5415-9779199D30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90F712-214D-98A6-C323-7E74BB2B00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0766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4E26E-6BBE-DDAC-4E2F-ACE15E82F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834BA7-0A44-1FDD-96DA-83FA0F6291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3DB0D3-E7AD-AF9E-44F8-B1B3698566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8C0EE3-3BD8-A239-96D5-51A1ADF5E0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8487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265BA-1C75-E6B9-8DAE-CF9B47D66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4AC5AD-CD94-DA34-CA9D-0349CB6DBD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F7DE0D-3E2F-49A3-D7A8-43DE08BB20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85E7AE-EC22-20CE-7A73-C67875BF23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5806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AB6E3-3E35-9704-BB51-7FB5CB771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35A7FE-32C9-5AEE-EE5E-8F101D10A1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FF4FB1-7AAE-6648-789D-F662A9F137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E2A036-FC93-C945-B271-5B6655F611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8920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7DE79-D494-2572-4680-D59D1978C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242D91-CD37-C64B-1F1C-E91D0DA714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A18167-2E52-D544-4A61-5ED01B26D4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6F5FCB-4FCD-E612-1454-80421E1C83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8144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32A7637E-9A3A-8C0D-8CA1-539DE8D745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0068" y="-643467"/>
            <a:ext cx="9355667" cy="680296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A5A745-0AF1-23F4-79C1-29126BF7A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7864034-6E7F-8972-92F7-E560746E3D0C}"/>
              </a:ext>
            </a:extLst>
          </p:cNvPr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EAA8FBC-2286-7EC5-3038-3E43E419A9D6}"/>
              </a:ext>
            </a:extLst>
          </p:cNvPr>
          <p:cNvSpPr/>
          <p:nvPr/>
        </p:nvSpPr>
        <p:spPr>
          <a:xfrm>
            <a:off x="3572933" y="784267"/>
            <a:ext cx="5461001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ARMAZENAMENTO</a:t>
            </a:r>
            <a:endParaRPr lang="en-US" sz="4800" dirty="0"/>
          </a:p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DE DADOS</a:t>
            </a:r>
            <a:endParaRPr lang="en-US" sz="4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AF69557-341F-27F4-B9B4-CCA1B966B77D}"/>
              </a:ext>
            </a:extLst>
          </p:cNvPr>
          <p:cNvSpPr/>
          <p:nvPr/>
        </p:nvSpPr>
        <p:spPr>
          <a:xfrm>
            <a:off x="3749040" y="316484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A8D5F0"/>
                </a:solidFill>
              </a:rPr>
              <a:t>Como os sistemas guardam, organizam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A8D5F0"/>
                </a:solidFill>
              </a:rPr>
              <a:t>e acedем à informação de forma eficiente.</a:t>
            </a:r>
            <a:endParaRPr lang="en-US" sz="20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34A87E7-73C6-C985-4432-17CC6BD93F73}"/>
              </a:ext>
            </a:extLst>
          </p:cNvPr>
          <p:cNvSpPr/>
          <p:nvPr/>
        </p:nvSpPr>
        <p:spPr>
          <a:xfrm>
            <a:off x="3474719" y="2688337"/>
            <a:ext cx="5669281" cy="144186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8596E2F-860A-4857-F531-5CCE55D6AB3A}"/>
              </a:ext>
            </a:extLst>
          </p:cNvPr>
          <p:cNvSpPr/>
          <p:nvPr/>
        </p:nvSpPr>
        <p:spPr>
          <a:xfrm>
            <a:off x="3572933" y="4663440"/>
            <a:ext cx="369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8FA6"/>
                </a:solidFill>
              </a:rPr>
              <a:t>Sistema de </a:t>
            </a:r>
            <a:r>
              <a:rPr lang="pt-BR" sz="1000" dirty="0">
                <a:solidFill>
                  <a:srgbClr val="7A8FA6"/>
                </a:solidFill>
              </a:rPr>
              <a:t>Gestão</a:t>
            </a:r>
            <a:r>
              <a:rPr lang="en-US" sz="1000" dirty="0">
                <a:solidFill>
                  <a:srgbClr val="7A8FA6"/>
                </a:solidFill>
              </a:rPr>
              <a:t> de Bases de Dados II  ·  Engenharia Informática</a:t>
            </a:r>
            <a:endParaRPr lang="en-US" sz="1000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587C5470-2FDD-54D9-0E7A-8929A869A0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193" t="11266" r="22285" b="14955"/>
          <a:stretch>
            <a:fillRect/>
          </a:stretch>
        </p:blipFill>
        <p:spPr>
          <a:xfrm>
            <a:off x="163106" y="1420283"/>
            <a:ext cx="3148508" cy="2948517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65175DAE-681F-D27B-8223-068F7A84EB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16" y="239430"/>
            <a:ext cx="622336" cy="615656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6114B42A-F1EA-35A8-6182-B2ED225E96AD}"/>
              </a:ext>
            </a:extLst>
          </p:cNvPr>
          <p:cNvSpPr/>
          <p:nvPr/>
        </p:nvSpPr>
        <p:spPr>
          <a:xfrm>
            <a:off x="689183" y="208647"/>
            <a:ext cx="2680548" cy="677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b="1" dirty="0">
                <a:solidFill>
                  <a:srgbClr val="FFFFFF"/>
                </a:solidFill>
              </a:rPr>
              <a:t>UNIVERSIDADE KIMPA VITA</a:t>
            </a:r>
          </a:p>
          <a:p>
            <a:pPr marL="0" indent="0" algn="just">
              <a:buNone/>
            </a:pPr>
            <a:r>
              <a:rPr lang="en-US" b="1" dirty="0">
                <a:solidFill>
                  <a:srgbClr val="FFFFFF"/>
                </a:solidFill>
              </a:rPr>
              <a:t>INSTITUTO </a:t>
            </a:r>
            <a:r>
              <a:rPr lang="pt-BR" b="1" dirty="0">
                <a:solidFill>
                  <a:srgbClr val="FFFFFF"/>
                </a:solidFill>
              </a:rPr>
              <a:t>POLITÉCNICO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136999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0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195072"/>
            <a:ext cx="27051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INTRODUÇÃO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5029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300" dirty="0">
                <a:solidFill>
                  <a:srgbClr val="111827"/>
                </a:solidFill>
              </a:rPr>
              <a:t>Toda vez </a:t>
            </a:r>
            <a:r>
              <a:rPr lang="en-US" sz="1300" dirty="0" err="1">
                <a:solidFill>
                  <a:srgbClr val="111827"/>
                </a:solidFill>
              </a:rPr>
              <a:t>que</a:t>
            </a:r>
            <a:r>
              <a:rPr lang="en-US" sz="1300" dirty="0">
                <a:solidFill>
                  <a:srgbClr val="111827"/>
                </a:solidFill>
              </a:rPr>
              <a:t> </a:t>
            </a:r>
            <a:r>
              <a:rPr lang="en-US" sz="1300" dirty="0" err="1">
                <a:solidFill>
                  <a:srgbClr val="111827"/>
                </a:solidFill>
              </a:rPr>
              <a:t>guardamos</a:t>
            </a:r>
            <a:r>
              <a:rPr lang="en-US" sz="1300" dirty="0">
                <a:solidFill>
                  <a:srgbClr val="111827"/>
                </a:solidFill>
              </a:rPr>
              <a:t> um ficheiro, </a:t>
            </a:r>
            <a:r>
              <a:rPr lang="en-US" sz="1300" dirty="0" err="1">
                <a:solidFill>
                  <a:srgbClr val="111827"/>
                </a:solidFill>
              </a:rPr>
              <a:t>envimos</a:t>
            </a:r>
            <a:r>
              <a:rPr lang="en-US" sz="1300" dirty="0">
                <a:solidFill>
                  <a:srgbClr val="111827"/>
                </a:solidFill>
              </a:rPr>
              <a:t> uma mensagem ou consultas uma base de dados </a:t>
            </a:r>
            <a:r>
              <a:rPr lang="en-US" sz="1300" dirty="0" err="1">
                <a:solidFill>
                  <a:srgbClr val="111827"/>
                </a:solidFill>
              </a:rPr>
              <a:t>Existe</a:t>
            </a:r>
            <a:r>
              <a:rPr lang="en-US" sz="1300" dirty="0">
                <a:solidFill>
                  <a:srgbClr val="111827"/>
                </a:solidFill>
              </a:rPr>
              <a:t> um sistema de armazenamento a trabalhar em segundo plano.
Compreender como os dados são fisicamente armazenados é fundamental para:
</a:t>
            </a:r>
            <a:r>
              <a:rPr lang="en-US" sz="1300" dirty="0">
                <a:solidFill>
                  <a:srgbClr val="1E3A5F"/>
                </a:solidFill>
              </a:rPr>
              <a:t>→  Tomar decisões de desempenho corretas
→  Escolher o hardware certo para cada caso
→  Entender porque certas operações são lentas
→  Desenhar sistemas que escalam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0" y="1481328"/>
            <a:ext cx="3108960" cy="3273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A8FA6"/>
                </a:solidFill>
              </a:rPr>
              <a:t>Representação visual de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7A8FA6"/>
                </a:solidFill>
              </a:rPr>
              <a:t>hierarquia de armazenamento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7A8FA6"/>
                </a:solidFill>
              </a:rPr>
              <a:t>(pirâmide RAM → Arquivo)</a:t>
            </a:r>
            <a:endParaRPr lang="en-US" sz="1000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E4D27DC8-33A5-260A-A9C8-52A93AAD52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8320" y="1234440"/>
            <a:ext cx="3200400" cy="33649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0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4D3E68-BC89-24BE-2E9B-20330BAD7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70BE081-7E92-3DED-6527-C294C4A955EB}"/>
              </a:ext>
            </a:extLst>
          </p:cNvPr>
          <p:cNvSpPr/>
          <p:nvPr/>
        </p:nvSpPr>
        <p:spPr>
          <a:xfrm>
            <a:off x="0" y="-27685"/>
            <a:ext cx="9144000" cy="541963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62F610D-5947-D21D-3487-5258FE5A1793}"/>
              </a:ext>
            </a:extLst>
          </p:cNvPr>
          <p:cNvSpPr/>
          <p:nvPr/>
        </p:nvSpPr>
        <p:spPr>
          <a:xfrm>
            <a:off x="365760" y="-867"/>
            <a:ext cx="27051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OBJECTIVOS</a:t>
            </a:r>
            <a:endParaRPr lang="en-US" sz="36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AB8A15E-6110-0310-21D5-24CB5FB50DA7}"/>
              </a:ext>
            </a:extLst>
          </p:cNvPr>
          <p:cNvSpPr/>
          <p:nvPr/>
        </p:nvSpPr>
        <p:spPr>
          <a:xfrm>
            <a:off x="274320" y="1005840"/>
            <a:ext cx="88087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3CED43E-2D9F-E56B-75B4-2BD9A42586DE}"/>
              </a:ext>
            </a:extLst>
          </p:cNvPr>
          <p:cNvSpPr txBox="1"/>
          <p:nvPr/>
        </p:nvSpPr>
        <p:spPr>
          <a:xfrm>
            <a:off x="528562" y="1431618"/>
            <a:ext cx="1126671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800" b="1" dirty="0"/>
              <a:t>Geral:</a:t>
            </a:r>
          </a:p>
        </p:txBody>
      </p:sp>
      <p:sp>
        <p:nvSpPr>
          <p:cNvPr id="8" name="Seta: Pentágono 7">
            <a:extLst>
              <a:ext uri="{FF2B5EF4-FFF2-40B4-BE49-F238E27FC236}">
                <a16:creationId xmlns:a16="http://schemas.microsoft.com/office/drawing/2014/main" id="{9E301E30-A854-9F4E-A85A-36DD51AF7CFB}"/>
              </a:ext>
            </a:extLst>
          </p:cNvPr>
          <p:cNvSpPr/>
          <p:nvPr/>
        </p:nvSpPr>
        <p:spPr>
          <a:xfrm>
            <a:off x="1778000" y="1150763"/>
            <a:ext cx="7305040" cy="1117600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dirty="0"/>
              <a:t>Estudar os mecanismos de armazenamento de dados em sistemas de base de dados, destacando a sua relevância na organização, acesso e proteção da Informação.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CB46761-756C-728A-CB9D-03E9969C8FFE}"/>
              </a:ext>
            </a:extLst>
          </p:cNvPr>
          <p:cNvSpPr txBox="1"/>
          <p:nvPr/>
        </p:nvSpPr>
        <p:spPr>
          <a:xfrm>
            <a:off x="3604320" y="2483166"/>
            <a:ext cx="2148720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800" b="1" dirty="0"/>
              <a:t>ESPECÍFICOS: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6C6EE6A3-1186-9899-D1B3-975D7D09CA01}"/>
              </a:ext>
            </a:extLst>
          </p:cNvPr>
          <p:cNvSpPr/>
          <p:nvPr/>
        </p:nvSpPr>
        <p:spPr>
          <a:xfrm>
            <a:off x="644979" y="3188537"/>
            <a:ext cx="2833007" cy="13671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Apresentar diferentes formas de armazenamento de dados utilizados atualmente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96FF246F-D3E6-E6F9-3F40-2E60F424157E}"/>
              </a:ext>
            </a:extLst>
          </p:cNvPr>
          <p:cNvSpPr/>
          <p:nvPr/>
        </p:nvSpPr>
        <p:spPr>
          <a:xfrm>
            <a:off x="3722915" y="3194327"/>
            <a:ext cx="2425882" cy="11018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Compreender como os dados são estruturados para facilitar o acesso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619A5F5C-6655-201C-376C-6DEBD3A409CB}"/>
              </a:ext>
            </a:extLst>
          </p:cNvPr>
          <p:cNvSpPr/>
          <p:nvPr/>
        </p:nvSpPr>
        <p:spPr>
          <a:xfrm>
            <a:off x="6444888" y="3178534"/>
            <a:ext cx="2425882" cy="1117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Identificar o papel dos SGBD na gestão de grandes volumes de informações </a:t>
            </a:r>
          </a:p>
        </p:txBody>
      </p:sp>
    </p:spTree>
    <p:extLst>
      <p:ext uri="{BB962C8B-B14F-4D97-AF65-F5344CB8AC3E}">
        <p14:creationId xmlns:p14="http://schemas.microsoft.com/office/powerpoint/2010/main" val="30147803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0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Hierarquia de Armazenamento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5F0"/>
                </a:solidFill>
              </a:rPr>
              <a:t>Velocidade, custo e volatilidade num só conceito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336294"/>
            <a:ext cx="8595360" cy="566928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411480" y="1372870"/>
            <a:ext cx="8321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</a:rPr>
              <a:t>Nem toda a memória é igual — existe uma pirâmide onde sobe a velocidade e sobe o custo ao mesmo tempo.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040382"/>
            <a:ext cx="822960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40080" y="2040382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Arquivo   ·   Lenta · Custo mínimo · Massiva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600200" y="2771902"/>
            <a:ext cx="59436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783080" y="2771902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HDD   ·   Média · Não volátil · Barata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0" y="3503422"/>
            <a:ext cx="3657600" cy="658368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2926080" y="3503422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SSD   ·   Rápida · Não volátil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566160" y="4234942"/>
            <a:ext cx="2011680" cy="65836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749040" y="423494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RAM   ·   Muito rápida · Volátil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 rot="5400000">
            <a:off x="8595360" y="2103120"/>
            <a:ext cx="1828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8FA6"/>
                </a:solidFill>
              </a:rPr>
              <a:t>↑  Capacidade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0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RAM e SSD — Os Mais Rápidos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5F0"/>
                </a:solidFill>
              </a:rPr>
              <a:t>Quando a velocidade de acesso é crítica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4493" y="1097280"/>
            <a:ext cx="4377266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0" y="1114189"/>
            <a:ext cx="2017697" cy="45720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101297" y="1128292"/>
            <a:ext cx="194089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RAM — Memória Principal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2011680"/>
            <a:ext cx="1280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A8FA6"/>
                </a:solidFill>
              </a:rPr>
              <a:t>Foto módulo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7A8FA6"/>
                </a:solidFill>
              </a:rPr>
              <a:t>DDR4/DDR5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3854027"/>
            <a:ext cx="36576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100" i="1" dirty="0">
                <a:solidFill>
                  <a:srgbClr val="7A8FA6"/>
                </a:solidFill>
              </a:rPr>
              <a:t>A RAM é o espaço de trabalho ativo do sistema. Tudo que está a ser processado agora passa por ela.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66734" y="1097280"/>
            <a:ext cx="4377266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15" name="Shape 13"/>
          <p:cNvSpPr/>
          <p:nvPr/>
        </p:nvSpPr>
        <p:spPr>
          <a:xfrm>
            <a:off x="7061200" y="1123732"/>
            <a:ext cx="2082800" cy="457200"/>
          </a:xfrm>
          <a:prstGeom prst="rect">
            <a:avLst/>
          </a:prstGeom>
          <a:solidFill>
            <a:srgbClr val="2A9D5C"/>
          </a:solidFill>
          <a:ln w="12700">
            <a:solidFill>
              <a:srgbClr val="2A9D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7290707" y="1138936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SSD — Solid State Drive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74920" y="1627632"/>
            <a:ext cx="1463040" cy="1188720"/>
          </a:xfrm>
          <a:prstGeom prst="rect">
            <a:avLst/>
          </a:prstGeom>
          <a:solidFill>
            <a:srgbClr val="E8F0F7"/>
          </a:solidFill>
          <a:ln w="12700">
            <a:solidFill>
              <a:srgbClr val="D5DDE6"/>
            </a:solidFill>
            <a:prstDash val="dash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5074920" y="1627632"/>
            <a:ext cx="1463040" cy="347472"/>
          </a:xfrm>
          <a:prstGeom prst="rect">
            <a:avLst/>
          </a:prstGeom>
          <a:solidFill>
            <a:srgbClr val="D5DDE6"/>
          </a:solidFill>
          <a:ln w="12700">
            <a:solidFill>
              <a:srgbClr val="D5DDE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5074920" y="162763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A8FA6"/>
                </a:solidFill>
              </a:rPr>
              <a:t>[ IMAGEM ]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166360" y="2011680"/>
            <a:ext cx="1280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A8FA6"/>
                </a:solidFill>
              </a:rPr>
              <a:t>Foto SSD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7A8FA6"/>
                </a:solidFill>
              </a:rPr>
              <a:t>M.2 / SATA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011305" y="2112772"/>
            <a:ext cx="216571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</a:rPr>
              <a:t>Armazenamento </a:t>
            </a:r>
            <a:r>
              <a:rPr lang="en-US" sz="1100" b="1" dirty="0" err="1">
                <a:solidFill>
                  <a:srgbClr val="111827"/>
                </a:solidFill>
              </a:rPr>
              <a:t>persistente</a:t>
            </a:r>
            <a:r>
              <a:rPr lang="en-US" sz="1100" b="1" dirty="0">
                <a:solidFill>
                  <a:srgbClr val="111827"/>
                </a:solidFill>
              </a:rPr>
              <a:t> </a:t>
            </a:r>
            <a:r>
              <a:rPr lang="en-US" sz="1100" b="1" dirty="0" err="1">
                <a:solidFill>
                  <a:srgbClr val="111827"/>
                </a:solidFill>
              </a:rPr>
              <a:t>rápido</a:t>
            </a:r>
            <a:endParaRPr lang="en-US" sz="1100" b="1" dirty="0">
              <a:solidFill>
                <a:srgbClr val="111827"/>
              </a:solidFill>
            </a:endParaRPr>
          </a:p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</a:rPr>
              <a:t>
</a:t>
            </a:r>
            <a:r>
              <a:rPr lang="en-US" sz="1100" dirty="0">
                <a:solidFill>
                  <a:srgbClr val="111827"/>
                </a:solidFill>
              </a:rPr>
              <a:t>— Não volátil: guarda ao desligar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11827"/>
                </a:solidFill>
              </a:rPr>
              <a:t>— Sem partes mecânicas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11827"/>
                </a:solidFill>
              </a:rPr>
              <a:t>— Acesso aleatório muito rápido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11827"/>
                </a:solidFill>
              </a:rPr>
              <a:t>— Ciclos de escrita limitados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74920" y="3840480"/>
            <a:ext cx="36576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100" i="1" dirty="0">
                <a:solidFill>
                  <a:srgbClr val="7A8FA6"/>
                </a:solidFill>
              </a:rPr>
              <a:t>O SSD revolucionou o armazenamento. Um sistema com SSD arranca em segundos — contra minutos com HDD.</a:t>
            </a:r>
            <a:endParaRPr lang="en-US" sz="1100" dirty="0"/>
          </a:p>
        </p:txBody>
      </p:sp>
      <p:pic>
        <p:nvPicPr>
          <p:cNvPr id="24" name="Imagem 23">
            <a:extLst>
              <a:ext uri="{FF2B5EF4-FFF2-40B4-BE49-F238E27FC236}">
                <a16:creationId xmlns:a16="http://schemas.microsoft.com/office/drawing/2014/main" id="{FD06D4B1-C3F6-EF22-483E-459DEFFB880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230"/>
          <a:stretch>
            <a:fillRect/>
          </a:stretch>
        </p:blipFill>
        <p:spPr>
          <a:xfrm>
            <a:off x="230293" y="1819680"/>
            <a:ext cx="2148840" cy="2319359"/>
          </a:xfrm>
          <a:prstGeom prst="rect">
            <a:avLst/>
          </a:prstGeom>
        </p:spPr>
      </p:pic>
      <p:pic>
        <p:nvPicPr>
          <p:cNvPr id="26" name="Imagem 25">
            <a:extLst>
              <a:ext uri="{FF2B5EF4-FFF2-40B4-BE49-F238E27FC236}">
                <a16:creationId xmlns:a16="http://schemas.microsoft.com/office/drawing/2014/main" id="{FD59CFEC-3950-CD36-4A2A-11927B1620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5485" y="1627632"/>
            <a:ext cx="2165715" cy="2392136"/>
          </a:xfrm>
          <a:prstGeom prst="rect">
            <a:avLst/>
          </a:prstGeom>
        </p:spPr>
      </p:pic>
      <p:sp>
        <p:nvSpPr>
          <p:cNvPr id="23" name="Text 10"/>
          <p:cNvSpPr/>
          <p:nvPr/>
        </p:nvSpPr>
        <p:spPr>
          <a:xfrm>
            <a:off x="2276806" y="1897377"/>
            <a:ext cx="2148840" cy="16540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200" b="1" dirty="0">
                <a:solidFill>
                  <a:srgbClr val="111827"/>
                </a:solidFill>
              </a:rPr>
              <a:t>Onde o </a:t>
            </a:r>
            <a:r>
              <a:rPr lang="en-US" sz="1200" b="1" dirty="0" err="1">
                <a:solidFill>
                  <a:srgbClr val="111827"/>
                </a:solidFill>
              </a:rPr>
              <a:t>processador</a:t>
            </a:r>
            <a:r>
              <a:rPr lang="en-US" sz="1200" b="1" dirty="0">
                <a:solidFill>
                  <a:srgbClr val="111827"/>
                </a:solidFill>
              </a:rPr>
              <a:t> </a:t>
            </a:r>
            <a:r>
              <a:rPr lang="en-US" sz="1200" b="1" dirty="0" err="1">
                <a:solidFill>
                  <a:srgbClr val="111827"/>
                </a:solidFill>
              </a:rPr>
              <a:t>trabalha</a:t>
            </a:r>
            <a:endParaRPr lang="en-US" sz="1200" b="1" dirty="0">
              <a:solidFill>
                <a:srgbClr val="111827"/>
              </a:solidFill>
            </a:endParaRPr>
          </a:p>
          <a:p>
            <a:pPr marL="0" indent="0" algn="just">
              <a:buNone/>
            </a:pPr>
            <a:r>
              <a:rPr lang="en-US" sz="1200" b="1" dirty="0">
                <a:solidFill>
                  <a:srgbClr val="111827"/>
                </a:solidFill>
              </a:rPr>
              <a:t>
</a:t>
            </a:r>
            <a:r>
              <a:rPr lang="en-US" sz="1200" dirty="0">
                <a:solidFill>
                  <a:srgbClr val="111827"/>
                </a:solidFill>
              </a:rPr>
              <a:t>— Volátil: apaga ao desligar</a:t>
            </a:r>
            <a:endParaRPr lang="en-US" sz="1200" dirty="0"/>
          </a:p>
          <a:p>
            <a:pPr marL="0" indent="0" algn="just">
              <a:buNone/>
            </a:pPr>
            <a:r>
              <a:rPr lang="en-US" sz="1200" dirty="0">
                <a:solidFill>
                  <a:srgbClr val="111827"/>
                </a:solidFill>
              </a:rPr>
              <a:t>—</a:t>
            </a:r>
            <a:r>
              <a:rPr lang="en-US" sz="1200" dirty="0" err="1">
                <a:solidFill>
                  <a:srgbClr val="111827"/>
                </a:solidFill>
              </a:rPr>
              <a:t>Muito</a:t>
            </a:r>
            <a:r>
              <a:rPr lang="en-US" sz="1200" dirty="0">
                <a:solidFill>
                  <a:srgbClr val="111827"/>
                </a:solidFill>
              </a:rPr>
              <a:t> rápida (nanosegundos)</a:t>
            </a:r>
            <a:endParaRPr lang="en-US" sz="1200" dirty="0"/>
          </a:p>
          <a:p>
            <a:pPr marL="0" indent="0" algn="just">
              <a:buNone/>
            </a:pPr>
            <a:r>
              <a:rPr lang="en-US" sz="1200" dirty="0">
                <a:solidFill>
                  <a:srgbClr val="111827"/>
                </a:solidFill>
              </a:rPr>
              <a:t>— Custo elevado por GB</a:t>
            </a:r>
            <a:endParaRPr lang="en-US" sz="1200" dirty="0"/>
          </a:p>
          <a:p>
            <a:pPr marL="0" indent="0" algn="just">
              <a:buNone/>
            </a:pPr>
            <a:r>
              <a:rPr lang="en-US" sz="1200" dirty="0">
                <a:solidFill>
                  <a:srgbClr val="111827"/>
                </a:solidFill>
              </a:rPr>
              <a:t>— Típico: 8 a 64 GB num PC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0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HDD — Disco Magnético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5F0"/>
                </a:solidFill>
              </a:rPr>
              <a:t>O armazenamento de grande capacidade e baixo custo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926080" cy="3749040"/>
          </a:xfrm>
          <a:prstGeom prst="rect">
            <a:avLst/>
          </a:prstGeom>
          <a:solidFill>
            <a:srgbClr val="E8F0F7"/>
          </a:solidFill>
          <a:ln w="12700">
            <a:solidFill>
              <a:srgbClr val="D5DDE6"/>
            </a:solidFill>
            <a:prstDash val="dash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2926080" cy="347472"/>
          </a:xfrm>
          <a:prstGeom prst="rect">
            <a:avLst/>
          </a:prstGeom>
          <a:solidFill>
            <a:srgbClr val="D5DDE6"/>
          </a:solidFill>
          <a:ln w="12700">
            <a:solidFill>
              <a:srgbClr val="D5DDE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274320" y="109728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A8FA6"/>
                </a:solidFill>
              </a:rPr>
              <a:t>[ HDD ]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481328"/>
            <a:ext cx="2743200" cy="3273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A8FA6"/>
                </a:solidFill>
              </a:rPr>
              <a:t>Foto HDD aberto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7A8FA6"/>
                </a:solidFill>
              </a:rPr>
              <a:t>mostrando os pratos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7A8FA6"/>
                </a:solidFill>
              </a:rPr>
              <a:t>e cabeça de leitura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74720" y="1097280"/>
            <a:ext cx="53949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3657600" y="123444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</a:rPr>
              <a:t>Como funciona?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57600" y="1691640"/>
            <a:ext cx="5029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200" dirty="0">
                <a:solidFill>
                  <a:srgbClr val="111827"/>
                </a:solidFill>
              </a:rPr>
              <a:t>O HDD armazena dados em pratos magnéticos que giram a </a:t>
            </a:r>
            <a:r>
              <a:rPr lang="en-US" sz="1200" dirty="0" err="1">
                <a:solidFill>
                  <a:srgbClr val="111827"/>
                </a:solidFill>
              </a:rPr>
              <a:t>alta</a:t>
            </a:r>
            <a:r>
              <a:rPr lang="en-US" sz="1200" dirty="0">
                <a:solidFill>
                  <a:srgbClr val="111827"/>
                </a:solidFill>
              </a:rPr>
              <a:t> </a:t>
            </a:r>
            <a:r>
              <a:rPr lang="en-US" sz="1200" dirty="0" err="1">
                <a:solidFill>
                  <a:srgbClr val="111827"/>
                </a:solidFill>
              </a:rPr>
              <a:t>velocidade</a:t>
            </a:r>
            <a:r>
              <a:rPr lang="en-US" sz="1200" dirty="0">
                <a:solidFill>
                  <a:srgbClr val="111827"/>
                </a:solidFill>
              </a:rPr>
              <a:t> tipicamente 5400 ou 7200 rotações por minuto. Uma cabeça de leitura/escrita desloca-se mecanicamente sobre esses pratos para ler ou gravar dados.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11880" y="2788920"/>
            <a:ext cx="5029200" cy="530352"/>
          </a:xfrm>
          <a:prstGeom prst="rect">
            <a:avLst/>
          </a:prstGeom>
          <a:solidFill>
            <a:srgbClr val="E8F0F7"/>
          </a:solidFill>
          <a:ln w="12700">
            <a:solidFill>
              <a:srgbClr val="D5DDE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3703320" y="2788920"/>
            <a:ext cx="411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A9D5C"/>
                </a:solidFill>
              </a:rPr>
              <a:t>✔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160520" y="282549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Grande capacidade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60520" y="306324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A6"/>
                </a:solidFill>
              </a:rPr>
              <a:t>De 500 GB até 20+ TB por disco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11880" y="3447288"/>
            <a:ext cx="5029200" cy="530352"/>
          </a:xfrm>
          <a:prstGeom prst="rect">
            <a:avLst/>
          </a:prstGeom>
          <a:solidFill>
            <a:srgbClr val="E8F0F7"/>
          </a:solidFill>
          <a:ln w="12700">
            <a:solidFill>
              <a:srgbClr val="D5DDE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3703320" y="3447288"/>
            <a:ext cx="411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A9D5C"/>
                </a:solidFill>
              </a:rPr>
              <a:t>✔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160520" y="348386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Custo baixo por GB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60520" y="372160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A6"/>
                </a:solidFill>
              </a:rPr>
              <a:t>A escolha económica para backups e arquivos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11880" y="4105656"/>
            <a:ext cx="5029200" cy="530352"/>
          </a:xfrm>
          <a:prstGeom prst="rect">
            <a:avLst/>
          </a:prstGeom>
          <a:solidFill>
            <a:srgbClr val="E8F0F7"/>
          </a:solidFill>
          <a:ln w="12700">
            <a:solidFill>
              <a:srgbClr val="D5DDE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3703320" y="4105656"/>
            <a:ext cx="411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E07B39"/>
                </a:solidFill>
              </a:rPr>
              <a:t>⚠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160520" y="41422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Acesso mecânico = latência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60520" y="4379976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A6"/>
                </a:solidFill>
              </a:rPr>
              <a:t>Seek time + rotação = mais lento que SSD</a:t>
            </a:r>
            <a:endParaRPr lang="en-US" sz="1000" dirty="0"/>
          </a:p>
        </p:txBody>
      </p:sp>
      <p:pic>
        <p:nvPicPr>
          <p:cNvPr id="27" name="Imagem 26">
            <a:extLst>
              <a:ext uri="{FF2B5EF4-FFF2-40B4-BE49-F238E27FC236}">
                <a16:creationId xmlns:a16="http://schemas.microsoft.com/office/drawing/2014/main" id="{727E883C-B39B-9283-D808-534F226E21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1" y="1484674"/>
            <a:ext cx="2880360" cy="31937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0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Gestão de Buffer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5F0"/>
                </a:solidFill>
              </a:rPr>
              <a:t>A ponte entre o disco lento e o processador rápido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8595360" cy="59436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457200" y="1115568"/>
            <a:ext cx="82296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</a:rPr>
              <a:t>Acessar o disco para cada dado seria lento demais. O Buffer Manager mantém os dados mais usados na RAM.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874520"/>
            <a:ext cx="2468880" cy="137160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365760" y="19202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CPU /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Processador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263347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D5F0"/>
                </a:solidFill>
              </a:rPr>
              <a:t>Precisa de dados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54680" y="1885950"/>
            <a:ext cx="2468880" cy="1371600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3154680" y="19202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Pool de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Buffers (RAM)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46120" y="263347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D5F0"/>
                </a:solidFill>
              </a:rPr>
              <a:t>Cache ativa na memória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355080" y="1920240"/>
            <a:ext cx="2468880" cy="13716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537960" y="1901952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Disco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(HDD / SSD)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46520" y="26883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D5F0"/>
                </a:solidFill>
              </a:rPr>
              <a:t>Armazenamento persistente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819400" y="243459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D6A9F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814060" y="257175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D6A9F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274320" y="340156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Quando o buffer está cheio — qual bloco remover?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74320" y="3794760"/>
            <a:ext cx="4206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274320" y="3794760"/>
            <a:ext cx="777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LRU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3794760"/>
            <a:ext cx="777240" cy="530352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292608" y="3794760"/>
            <a:ext cx="758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43000" y="38862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</a:rPr>
              <a:t>Remove o bloco acedido há mais tempo — a mais usada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4434840"/>
            <a:ext cx="4206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274320" y="4434840"/>
            <a:ext cx="777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FIFO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74320" y="4434840"/>
            <a:ext cx="777240" cy="530352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292608" y="4434840"/>
            <a:ext cx="758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143000" y="452628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</a:rPr>
              <a:t>Remove o que está há mais tempo no buffer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09160" y="3794760"/>
            <a:ext cx="4206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4709160" y="3794760"/>
            <a:ext cx="777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MRU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709160" y="3794760"/>
            <a:ext cx="777240" cy="530352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4727448" y="3794760"/>
            <a:ext cx="758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577840" y="38862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</a:rPr>
              <a:t>Remove o acedido mais recentemente — útil em scans sequenciais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709160" y="4434840"/>
            <a:ext cx="4206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/>
          <p:nvPr/>
        </p:nvSpPr>
        <p:spPr>
          <a:xfrm>
            <a:off x="4709160" y="4434840"/>
            <a:ext cx="777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WAL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709160" y="4434840"/>
            <a:ext cx="777240" cy="530352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Text 39"/>
          <p:cNvSpPr/>
          <p:nvPr/>
        </p:nvSpPr>
        <p:spPr>
          <a:xfrm>
            <a:off x="4727448" y="4434840"/>
            <a:ext cx="758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577840" y="452628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</a:rPr>
              <a:t>Antes de gravar dados, o log é sempre escrito primeiro — garante recuperação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F0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RAID — Múltiplos Discos, Mais Segurança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5F0"/>
                </a:solidFill>
              </a:rPr>
              <a:t>Combinar discos para desempenho e/ou redundância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105156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11827"/>
                </a:solidFill>
              </a:rPr>
              <a:t>A ideia é simples: em vez de um disco gigante vulnerável, usamos vários discos trabalhando juntos.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217920" y="1005840"/>
            <a:ext cx="2651760" cy="3849624"/>
          </a:xfrm>
          <a:prstGeom prst="rect">
            <a:avLst/>
          </a:prstGeom>
          <a:solidFill>
            <a:srgbClr val="E8F0F7"/>
          </a:solidFill>
          <a:ln w="12700">
            <a:solidFill>
              <a:srgbClr val="D5DDE6"/>
            </a:solidFill>
            <a:prstDash val="dash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6217920" y="1005840"/>
            <a:ext cx="2651760" cy="347472"/>
          </a:xfrm>
          <a:prstGeom prst="rect">
            <a:avLst/>
          </a:prstGeom>
          <a:solidFill>
            <a:srgbClr val="D5DDE6"/>
          </a:solidFill>
          <a:ln w="12700">
            <a:solidFill>
              <a:srgbClr val="D5DDE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309360" y="1389888"/>
            <a:ext cx="2468880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A8FA6"/>
                </a:solidFill>
              </a:rPr>
              <a:t>Diagrama RAID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7A8FA6"/>
                </a:solidFill>
              </a:rPr>
              <a:t>(ex: RAID 5 com 3 discos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7A8FA6"/>
                </a:solidFill>
              </a:rPr>
              <a:t>e bloco de paridade)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600200"/>
            <a:ext cx="28346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274320" y="1600200"/>
            <a:ext cx="685800" cy="10058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292608" y="1673352"/>
            <a:ext cx="667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RAID 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92608" y="2103120"/>
            <a:ext cx="667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A8D5F0"/>
                </a:solidFill>
              </a:rPr>
              <a:t>Striping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51560" y="169164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</a:rPr>
              <a:t>Dados divididos pelos discos — dobra a velocidade mas zero redundância. Se um disco falha, perdes tudo.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724912"/>
            <a:ext cx="28346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274320" y="2724912"/>
            <a:ext cx="685800" cy="1005840"/>
          </a:xfrm>
          <a:prstGeom prst="rect">
            <a:avLst/>
          </a:prstGeom>
          <a:solidFill>
            <a:srgbClr val="2A9D5C"/>
          </a:solidFill>
          <a:ln w="12700">
            <a:solidFill>
              <a:srgbClr val="2A9D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292608" y="2798064"/>
            <a:ext cx="667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RAID 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92608" y="3227832"/>
            <a:ext cx="667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A8D5F0"/>
                </a:solidFill>
              </a:rPr>
              <a:t>Mirroring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51560" y="2816352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</a:rPr>
              <a:t>Cada disco tem uma cópia exata do outro. Perdes 50% da capacidade mas tens tolerância total a falha.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849624"/>
            <a:ext cx="28346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274320" y="3849624"/>
            <a:ext cx="685800" cy="1005840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292608" y="3922776"/>
            <a:ext cx="667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RAID 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92608" y="4352544"/>
            <a:ext cx="667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A8D5F0"/>
                </a:solidFill>
              </a:rPr>
              <a:t>Striping + Paridade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051560" y="3941064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</a:rPr>
              <a:t>Dados e paridade distribuídos por 3+ discos. Bom equilíbrio: desempenho, capacidade e redundância.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91840" y="1600200"/>
            <a:ext cx="28346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3291840" y="1600200"/>
            <a:ext cx="6858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3310128" y="1673352"/>
            <a:ext cx="667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RAID 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10128" y="2103120"/>
            <a:ext cx="667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A8D5F0"/>
                </a:solidFill>
              </a:rPr>
              <a:t>Dupla Paridade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069080" y="169164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</a:rPr>
              <a:t>Como o RAID 5 mas suporta falha de 2 discos em simultâneo. Mínimo 4 discos.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91840" y="2724912"/>
            <a:ext cx="28346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3291840" y="2724912"/>
            <a:ext cx="685800" cy="100584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3310128" y="2798064"/>
            <a:ext cx="667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RAID 10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310128" y="3227832"/>
            <a:ext cx="667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A8D5F0"/>
                </a:solidFill>
              </a:rPr>
              <a:t>RAID 1+0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069080" y="2816352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</a:rPr>
              <a:t>Combina espelhamento e striping. Alto desempenho E alta redundância. Caro mas o melhor dos dois mundos.</a:t>
            </a:r>
            <a:endParaRPr lang="en-US" sz="1000" dirty="0"/>
          </a:p>
        </p:txBody>
      </p:sp>
      <p:pic>
        <p:nvPicPr>
          <p:cNvPr id="35" name="Picture 2" descr="C:\Users\INDO\Pictures\RS2BL080-SSD.jpg">
            <a:extLst>
              <a:ext uri="{FF2B5EF4-FFF2-40B4-BE49-F238E27FC236}">
                <a16:creationId xmlns:a16="http://schemas.microsoft.com/office/drawing/2014/main" id="{327CB95F-8DB6-494E-53A7-2ED6D6FBE2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7920" y="1030224"/>
            <a:ext cx="2633472" cy="3825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0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7E5D11-F05E-B0D1-9F42-00B0F6FCC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86412B2-B26A-4AF9-BE69-E341EEDBED58}"/>
              </a:ext>
            </a:extLst>
          </p:cNvPr>
          <p:cNvSpPr/>
          <p:nvPr/>
        </p:nvSpPr>
        <p:spPr>
          <a:xfrm>
            <a:off x="0" y="-2948"/>
            <a:ext cx="9144000" cy="655775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140617F-D25F-AD8F-6672-75D721DFBB39}"/>
              </a:ext>
            </a:extLst>
          </p:cNvPr>
          <p:cNvSpPr/>
          <p:nvPr/>
        </p:nvSpPr>
        <p:spPr>
          <a:xfrm>
            <a:off x="365760" y="64444"/>
            <a:ext cx="8092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600" b="1" dirty="0">
                <a:solidFill>
                  <a:srgbClr val="FFFFFF"/>
                </a:solidFill>
              </a:rPr>
              <a:t>COMPARAÇÃO ENTRE OS 5 TIPOS DE RAD</a:t>
            </a:r>
            <a:endParaRPr lang="en-US" sz="3600" dirty="0"/>
          </a:p>
        </p:txBody>
      </p:sp>
      <p:pic>
        <p:nvPicPr>
          <p:cNvPr id="4" name="Picture 2" descr="C:\Users\INDO\Pictures\transferir.png">
            <a:extLst>
              <a:ext uri="{FF2B5EF4-FFF2-40B4-BE49-F238E27FC236}">
                <a16:creationId xmlns:a16="http://schemas.microsoft.com/office/drawing/2014/main" id="{4CAA8AA4-6066-4EF9-1639-4653ECCC46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477" y="652827"/>
            <a:ext cx="7393006" cy="4490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15995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0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82D01E-D478-0426-858D-C9484E83E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CE3AD64-4F95-B2E8-D6D7-6730D26BCEDB}"/>
              </a:ext>
            </a:extLst>
          </p:cNvPr>
          <p:cNvSpPr/>
          <p:nvPr/>
        </p:nvSpPr>
        <p:spPr>
          <a:xfrm>
            <a:off x="0" y="0"/>
            <a:ext cx="9144000" cy="62048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EC4A64E-CA7A-98D9-3A7E-8621C39A68E8}"/>
              </a:ext>
            </a:extLst>
          </p:cNvPr>
          <p:cNvSpPr/>
          <p:nvPr/>
        </p:nvSpPr>
        <p:spPr>
          <a:xfrm>
            <a:off x="365760" y="80773"/>
            <a:ext cx="823123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800" b="1" dirty="0">
                <a:solidFill>
                  <a:srgbClr val="FFFFFF"/>
                </a:solidFill>
              </a:rPr>
              <a:t>DESEMPENHO DE DOIS SERVER: A- NO RAD VS B- RAD</a:t>
            </a:r>
            <a:endParaRPr lang="en-US" sz="2800" dirty="0"/>
          </a:p>
        </p:txBody>
      </p:sp>
      <p:pic>
        <p:nvPicPr>
          <p:cNvPr id="5" name="Picture 5" descr="C:\Users\INDO\Pictures\graph.png">
            <a:extLst>
              <a:ext uri="{FF2B5EF4-FFF2-40B4-BE49-F238E27FC236}">
                <a16:creationId xmlns:a16="http://schemas.microsoft.com/office/drawing/2014/main" id="{8EB8C0FD-5B4C-008E-86C6-08CF391E40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664465"/>
            <a:ext cx="8001000" cy="4398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86999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0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0419C2-18F3-02FE-A451-2BB117725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6A2BA88-A52A-2E81-0F88-96F1558C09D9}"/>
              </a:ext>
            </a:extLst>
          </p:cNvPr>
          <p:cNvSpPr/>
          <p:nvPr/>
        </p:nvSpPr>
        <p:spPr>
          <a:xfrm>
            <a:off x="0" y="-2948"/>
            <a:ext cx="9144000" cy="655775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7893EF0-18EA-48DE-DB48-97636A8F677C}"/>
              </a:ext>
            </a:extLst>
          </p:cNvPr>
          <p:cNvSpPr/>
          <p:nvPr/>
        </p:nvSpPr>
        <p:spPr>
          <a:xfrm>
            <a:off x="365760" y="64444"/>
            <a:ext cx="401997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600" b="1" dirty="0">
                <a:solidFill>
                  <a:srgbClr val="FFFFFF"/>
                </a:solidFill>
              </a:rPr>
              <a:t>ESCOLHA DO RAD 10</a:t>
            </a:r>
            <a:endParaRPr lang="en-US" sz="3600" dirty="0"/>
          </a:p>
        </p:txBody>
      </p:sp>
      <p:pic>
        <p:nvPicPr>
          <p:cNvPr id="7" name="Picture 4" descr="C:\Users\INDO\Pictures\graph (1).png">
            <a:extLst>
              <a:ext uri="{FF2B5EF4-FFF2-40B4-BE49-F238E27FC236}">
                <a16:creationId xmlns:a16="http://schemas.microsoft.com/office/drawing/2014/main" id="{A70E3300-1EA3-8FDC-82F9-B324E92E93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64" y="720219"/>
            <a:ext cx="7935685" cy="4423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40361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0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6924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Exemplo Real — Servidor de E-Commerce (AliExpress)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5F0"/>
                </a:solidFill>
              </a:rPr>
              <a:t>Como aplicar estes conceitos numa solução concreta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8595360" cy="5303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457200" y="11155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Cenário: plataforma de comércio eletrónico com escrita intensiva, leituras frequentes e alta disponibilidade exigida.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737360"/>
            <a:ext cx="4297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274320" y="1737360"/>
            <a:ext cx="502920" cy="96012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274320" y="1737360"/>
            <a:ext cx="502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182880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Logs de Transações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219456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</a:rPr>
              <a:t>SSDs em RAID 1 — escrita síncrona garantida pelo WAL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834640"/>
            <a:ext cx="4297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274320" y="2834640"/>
            <a:ext cx="502920" cy="960120"/>
          </a:xfrm>
          <a:prstGeom prst="rect">
            <a:avLst/>
          </a:prstGeom>
          <a:solidFill>
            <a:srgbClr val="2A9D5C"/>
          </a:solidFill>
          <a:ln w="12700">
            <a:solidFill>
              <a:srgbClr val="2A9D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274320" y="2834640"/>
            <a:ext cx="502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B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68680" y="292608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Tabelas e Índices Críticos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680" y="329184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</a:rPr>
              <a:t>SSDs em RAID 10 — máximo desempenho leitura/escrita + redundância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3931920"/>
            <a:ext cx="4297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274320" y="3931920"/>
            <a:ext cx="502920" cy="960120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274320" y="3931920"/>
            <a:ext cx="502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68680" y="402336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Dados Históricos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68680" y="4282986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</a:rPr>
              <a:t>HDDs em RAID 5 ou 6 — equilíbrio custo-capacidade-redundância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46320" y="1737360"/>
            <a:ext cx="4297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4846320" y="1737360"/>
            <a:ext cx="502920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4846320" y="1737360"/>
            <a:ext cx="502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D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440680" y="182880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Tabelas Temporárias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40680" y="219456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</a:rPr>
              <a:t>SSDs locais sem RAID — desempenho máximo, dados descartáveis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846320" y="2834640"/>
            <a:ext cx="4297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4846320" y="2834640"/>
            <a:ext cx="502920" cy="960120"/>
          </a:xfrm>
          <a:prstGeom prst="rect">
            <a:avLst/>
          </a:prstGeom>
          <a:solidFill>
            <a:srgbClr val="555F6D"/>
          </a:solidFill>
          <a:ln w="12700">
            <a:solidFill>
              <a:srgbClr val="555F6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4846320" y="2834640"/>
            <a:ext cx="502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E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440680" y="292608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Backups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40680" y="329184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</a:rPr>
              <a:t>HDDs de alta capacidade + armazenamento arquivo para longo prazo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74320" y="4681728"/>
            <a:ext cx="8595360" cy="347472"/>
          </a:xfrm>
          <a:prstGeom prst="rect">
            <a:avLst/>
          </a:prstGeom>
          <a:solidFill>
            <a:srgbClr val="A8D5F0"/>
          </a:solidFill>
          <a:ln w="12700">
            <a:solidFill>
              <a:srgbClr val="D5DDE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411480" y="4700016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E3A5F"/>
                </a:solidFill>
              </a:rPr>
              <a:t>Resultado: SSDs para dados quentes + HDDs para dados frios + RAID para redundância + Buffer otimizado = sistema robusto e eficiente.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2000" dirty="0">
                <a:solidFill>
                  <a:srgbClr val="A8D5F0"/>
                </a:solidFill>
              </a:rPr>
              <a:t>CONSIDERAÇÕES FINAIS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658368"/>
          </a:xfrm>
          <a:prstGeom prst="rect">
            <a:avLst/>
          </a:prstGeom>
          <a:solidFill>
            <a:srgbClr val="1E3A5F"/>
          </a:solidFill>
          <a:ln w="6350">
            <a:solidFill>
              <a:srgbClr val="2D6A9F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02920" y="914400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🔺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88720" y="1005840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A hierarquia de armazenamento é uma troca constante entre velocidade, custo e capacidade — não existe um único tipo perfeito para tudo.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1691640"/>
            <a:ext cx="8412480" cy="658368"/>
          </a:xfrm>
          <a:prstGeom prst="rect">
            <a:avLst/>
          </a:prstGeom>
          <a:solidFill>
            <a:srgbClr val="1E3A5F"/>
          </a:solidFill>
          <a:ln w="6350">
            <a:solidFill>
              <a:srgbClr val="2D6A9F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502920" y="1691640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💾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88720" y="1783080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RAM, SSD e HDD têm papéis distintos num sistema: a RAM trabalha, o SSD persiste rápido, o HDD armazena barato.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2468880"/>
            <a:ext cx="8412480" cy="658368"/>
          </a:xfrm>
          <a:prstGeom prst="rect">
            <a:avLst/>
          </a:prstGeom>
          <a:solidFill>
            <a:srgbClr val="1E3A5F"/>
          </a:solidFill>
          <a:ln w="6350">
            <a:solidFill>
              <a:srgbClr val="2D6A9F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02920" y="2468880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⚙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88720" y="2560320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O Buffer Manager é o componente que torna o disco 'rápido o suficiente' para o processador — sem ele, qualquer sistema travaria.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3246120"/>
            <a:ext cx="8412480" cy="658368"/>
          </a:xfrm>
          <a:prstGeom prst="rect">
            <a:avLst/>
          </a:prstGeom>
          <a:solidFill>
            <a:srgbClr val="1E3A5F"/>
          </a:solidFill>
          <a:ln w="6350">
            <a:solidFill>
              <a:srgbClr val="2D6A9F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502920" y="3246120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🛡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188720" y="3337560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RAID não é backup — é redundância. Escolher o nível certo depende de priorizar desempenho, espaço ou tolerância a falhas.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4023360"/>
            <a:ext cx="8412480" cy="658368"/>
          </a:xfrm>
          <a:prstGeom prst="rect">
            <a:avLst/>
          </a:prstGeom>
          <a:solidFill>
            <a:srgbClr val="1E3A5F"/>
          </a:solidFill>
          <a:ln w="6350">
            <a:solidFill>
              <a:srgbClr val="2D6A9F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502920" y="4023360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🏗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188720" y="4114800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Num sistema real, a escolha do armazenamento impacta diretamente o desempenho das consultas, a segurança dos dados e o custo operacional.</a:t>
            </a:r>
            <a:endParaRPr lang="en-US" sz="11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1051</Words>
  <Application>Microsoft Office PowerPoint</Application>
  <PresentationFormat>Apresentação na tela (16:9)</PresentationFormat>
  <Paragraphs>156</Paragraphs>
  <Slides>14</Slides>
  <Notes>14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6" baseType="lpstr"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Armazenamento de Dados — Capítulo 4</dc:title>
  <dc:subject>PptxGenJS Presentation</dc:subject>
  <dc:creator>PptxGenJS</dc:creator>
  <cp:lastModifiedBy>NSUMBO NGOMBO</cp:lastModifiedBy>
  <cp:revision>39</cp:revision>
  <dcterms:created xsi:type="dcterms:W3CDTF">2026-04-10T03:10:42Z</dcterms:created>
  <dcterms:modified xsi:type="dcterms:W3CDTF">2026-04-15T09:28:59Z</dcterms:modified>
</cp:coreProperties>
</file>